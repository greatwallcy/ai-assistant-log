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BMS失效分析（优化版）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作者：陆长城 | 优化整理：AI助手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目录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一、电源系统失效分析</a:t>
            </a:r>
          </a:p>
          <a:p>
            <a:pPr lvl="1">
              <a:defRPr sz="1200"/>
            </a:pPr>
            <a:r>
              <a:t>    1.1 不开机故障 / 1.2 开机掉电故障</a:t>
            </a:r>
          </a:p>
          <a:p>
            <a:pPr>
              <a:defRPr sz="1400"/>
            </a:pPr>
            <a:r>
              <a:t>二、通讯系统失效分析</a:t>
            </a:r>
          </a:p>
          <a:p>
            <a:pPr lvl="1">
              <a:defRPr sz="1200"/>
            </a:pPr>
            <a:r>
              <a:t>    2.1 RS485通讯异常 / 2.2 CAN通讯故障</a:t>
            </a:r>
          </a:p>
          <a:p>
            <a:pPr>
              <a:defRPr sz="1400"/>
            </a:pPr>
            <a:r>
              <a:t>三、MCU系统失效分析</a:t>
            </a:r>
          </a:p>
          <a:p>
            <a:pPr lvl="1">
              <a:defRPr sz="1200"/>
            </a:pPr>
            <a:r>
              <a:t>    3.1 MCU对地短路 / 3.2 软件逻辑异常</a:t>
            </a:r>
          </a:p>
          <a:p>
            <a:pPr>
              <a:defRPr sz="1400"/>
            </a:pPr>
            <a:r>
              <a:t>四、功率与保护失效分析</a:t>
            </a:r>
          </a:p>
          <a:p>
            <a:pPr lvl="1">
              <a:defRPr sz="1200"/>
            </a:pPr>
            <a:r>
              <a:t>    4.1 短路炸板 / 4.2 放电MOS击穿 / 4.3 预放电阻烧毁</a:t>
            </a:r>
          </a:p>
          <a:p>
            <a:pPr>
              <a:defRPr sz="1400"/>
            </a:pPr>
            <a:r>
              <a:t>五、AFE与采样失效分析</a:t>
            </a:r>
          </a:p>
          <a:p>
            <a:pPr lvl="1">
              <a:defRPr sz="1200"/>
            </a:pPr>
            <a:r>
              <a:t>    5.1 AFE烧毁 / 5.2 采集电阻烧毁 / 5.3 均衡失效</a:t>
            </a:r>
          </a:p>
          <a:p>
            <a:pPr>
              <a:defRPr sz="1400"/>
            </a:pPr>
            <a:r>
              <a:t>六、高压与接触器失效分析（新增）</a:t>
            </a:r>
          </a:p>
          <a:p>
            <a:pPr lvl="1">
              <a:defRPr sz="1200"/>
            </a:pPr>
            <a:r>
              <a:t>    6.1 接触器粘连 / 6.2 预充电异常</a:t>
            </a:r>
          </a:p>
          <a:p>
            <a:pPr>
              <a:defRPr sz="1400"/>
            </a:pPr>
            <a:r>
              <a:t>七、电池安全事故分析</a:t>
            </a:r>
          </a:p>
          <a:p>
            <a:pPr lvl="1">
              <a:defRPr sz="1200"/>
            </a:pPr>
            <a:r>
              <a:t>    7.1 电池起火 / 7.2 热失控链路分析</a:t>
            </a:r>
          </a:p>
          <a:p>
            <a:pPr>
              <a:defRPr sz="1400"/>
            </a:pPr>
            <a:r>
              <a:t>八、外设接口失效分析</a:t>
            </a:r>
          </a:p>
          <a:p>
            <a:pPr lvl="1">
              <a:defRPr sz="1200"/>
            </a:pPr>
            <a:r>
              <a:t>    8.1 USB故障</a:t>
            </a:r>
          </a:p>
          <a:p>
            <a:pPr>
              <a:defRPr sz="1400"/>
            </a:pPr>
            <a:r>
              <a:t>九、环境与长期失效（新增）</a:t>
            </a:r>
          </a:p>
          <a:p>
            <a:pPr lvl="1">
              <a:defRPr sz="1200"/>
            </a:pPr>
            <a:r>
              <a:t>    9.1 SOC/SOH漂移 / 9.2 虚焊与掉线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不开机故障分析思路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1.电源链路排查（从前到后）</a:t>
            </a:r>
          </a:p>
          <a:p>
            <a:pPr lvl="1">
              <a:defRPr sz="1200"/>
            </a:pPr>
            <a:r>
              <a:t>1）依次测量48V→12V→5V→3.3V各级电压是否正常</a:t>
            </a:r>
          </a:p>
          <a:p>
            <a:pPr lvl="1">
              <a:defRPr sz="1200"/>
            </a:pPr>
            <a:r>
              <a:t>2）测量各级对地阻抗是否正常</a:t>
            </a:r>
          </a:p>
          <a:p>
            <a:pPr lvl="1">
              <a:defRPr sz="1200"/>
            </a:pPr>
            <a:r>
              <a:t>3）检查电源时序是否符合设计要求</a:t>
            </a:r>
          </a:p>
          <a:p>
            <a:pPr>
              <a:defRPr sz="1400"/>
            </a:pPr>
            <a:r>
              <a:t>2.异常电源定位</a:t>
            </a:r>
          </a:p>
          <a:p>
            <a:pPr lvl="1">
              <a:defRPr sz="1200"/>
            </a:pPr>
            <a:r>
              <a:t>1）对地阻抗异常时，依次断开相关供电器件（WIFI、FLASH、MCU、通讯隔离、稳压管）</a:t>
            </a:r>
          </a:p>
          <a:p>
            <a:pPr lvl="1">
              <a:defRPr sz="1200"/>
            </a:pPr>
            <a:r>
              <a:t>2）电源恢复后，对拆除器件逐一测量，判断损坏器件</a:t>
            </a:r>
          </a:p>
          <a:p>
            <a:pPr>
              <a:defRPr sz="1400"/>
            </a:pPr>
            <a:r>
              <a:t>3.损坏器件复现分析</a:t>
            </a:r>
          </a:p>
          <a:p>
            <a:pPr lvl="1">
              <a:defRPr sz="1200"/>
            </a:pPr>
            <a:r>
              <a:t>1）检查设计：电源带载能力、动态响应、耐压、静电防护</a:t>
            </a:r>
          </a:p>
          <a:p>
            <a:pPr lvl="1">
              <a:defRPr sz="1200"/>
            </a:pPr>
            <a:r>
              <a:t>2）确认PCB布局是否存在散热/寄生参数问题</a:t>
            </a:r>
          </a:p>
          <a:p>
            <a:pPr lvl="1">
              <a:defRPr sz="1200"/>
            </a:pPr>
            <a:r>
              <a:t>3）确认是否存在虚焊、连锡等贴片问题</a:t>
            </a:r>
          </a:p>
          <a:p>
            <a:pPr>
              <a:defRPr sz="1400"/>
            </a:pPr>
            <a:r>
              <a:t>4.环境因素排查（新增）</a:t>
            </a:r>
          </a:p>
          <a:p>
            <a:pPr lvl="1">
              <a:defRPr sz="1200"/>
            </a:pPr>
            <a:r>
              <a:t>1）检查是否受潮、冷凝导致漏电</a:t>
            </a:r>
          </a:p>
          <a:p>
            <a:pPr lvl="1">
              <a:defRPr sz="1200"/>
            </a:pPr>
            <a:r>
              <a:t>2）检查是否存在温度极端导致的器件参数漂移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开机掉电故障分析思路（按键弹起立即掉电）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1.确认现象类型</a:t>
            </a:r>
          </a:p>
          <a:p>
            <a:pPr lvl="1">
              <a:defRPr sz="1200"/>
            </a:pPr>
            <a:r>
              <a:t>1）区分电源掉电 vs 软件复位掉电</a:t>
            </a:r>
          </a:p>
          <a:p>
            <a:pPr lvl="1">
              <a:defRPr sz="1200"/>
            </a:pPr>
            <a:r>
              <a:t>2）抓取关键波形：自保持引脚、按键检测、3.3V电源</a:t>
            </a:r>
          </a:p>
          <a:p>
            <a:pPr>
              <a:defRPr sz="1400"/>
            </a:pPr>
            <a:r>
              <a:t>2.电源掉电排查</a:t>
            </a:r>
          </a:p>
          <a:p>
            <a:pPr lvl="1">
              <a:defRPr sz="1200"/>
            </a:pPr>
            <a:r>
              <a:t>1）检查自保持电路设计、贴片情况</a:t>
            </a:r>
          </a:p>
          <a:p>
            <a:pPr lvl="1">
              <a:defRPr sz="1200"/>
            </a:pPr>
            <a:r>
              <a:t>2）确认外围电路参数是否正确，元器件是否完好</a:t>
            </a:r>
          </a:p>
          <a:p>
            <a:pPr lvl="1">
              <a:defRPr sz="1200"/>
            </a:pPr>
            <a:r>
              <a:t>3）验证软件逻辑：是否正确开启自保持</a:t>
            </a:r>
          </a:p>
          <a:p>
            <a:pPr>
              <a:defRPr sz="1400"/>
            </a:pPr>
            <a:r>
              <a:t>3.软件复位掉电排查</a:t>
            </a:r>
          </a:p>
          <a:p>
            <a:pPr lvl="1">
              <a:defRPr sz="1200"/>
            </a:pPr>
            <a:r>
              <a:t>1）可能原因：单片机IO口或通讯被外围拉死</a:t>
            </a:r>
          </a:p>
          <a:p>
            <a:pPr lvl="1">
              <a:defRPr sz="1200"/>
            </a:pPr>
            <a:r>
              <a:t>2）依次断开各通讯口：SD卡、SPI-AFE、CAN、RS485</a:t>
            </a:r>
          </a:p>
          <a:p>
            <a:pPr lvl="1">
              <a:defRPr sz="1200"/>
            </a:pPr>
            <a:r>
              <a:t>3）再断开对外各IO口（主要为调试口）</a:t>
            </a:r>
          </a:p>
          <a:p>
            <a:pPr>
              <a:defRPr sz="1400"/>
            </a:pPr>
            <a:r>
              <a:t>4.软件逻辑排查（新增）</a:t>
            </a:r>
          </a:p>
          <a:p>
            <a:pPr lvl="1">
              <a:defRPr sz="1200"/>
            </a:pPr>
            <a:r>
              <a:t>1）检查看门狗是否频繁复位</a:t>
            </a:r>
          </a:p>
          <a:p>
            <a:pPr lvl="1">
              <a:defRPr sz="1200"/>
            </a:pPr>
            <a:r>
              <a:t>2）检查是否有异常中断导致系统崩溃</a:t>
            </a:r>
          </a:p>
          <a:p>
            <a:pPr lvl="1">
              <a:defRPr sz="1200"/>
            </a:pPr>
            <a:r>
              <a:t>3）检查Flash存储是否损坏导致程序跑飞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RS485通讯异常失效分析思路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1.设计检查</a:t>
            </a:r>
          </a:p>
          <a:p>
            <a:pPr lvl="1">
              <a:defRPr sz="1200"/>
            </a:pPr>
            <a:r>
              <a:t>1）检查485芯片封装、引脚定义、PCB布局是否合理</a:t>
            </a:r>
          </a:p>
          <a:p>
            <a:pPr lvl="1">
              <a:defRPr sz="1200"/>
            </a:pPr>
            <a:r>
              <a:t>2）检查原理图设计：供电、EMC防护是否合理</a:t>
            </a:r>
          </a:p>
          <a:p>
            <a:pPr lvl="1">
              <a:defRPr sz="1200"/>
            </a:pPr>
            <a:r>
              <a:t>3）检查实物贴片是否存在漏贴、贴错</a:t>
            </a:r>
          </a:p>
          <a:p>
            <a:pPr lvl="1">
              <a:defRPr sz="1200"/>
            </a:pPr>
            <a:r>
              <a:t>4）验证终端电阻匹配（120Ω）是否正确</a:t>
            </a:r>
          </a:p>
          <a:p>
            <a:pPr>
              <a:defRPr sz="1400"/>
            </a:pPr>
            <a:r>
              <a:t>2.功能测试</a:t>
            </a:r>
          </a:p>
          <a:p>
            <a:pPr lvl="1">
              <a:defRPr sz="1200"/>
            </a:pPr>
            <a:r>
              <a:t>1）上位机通讯测试</a:t>
            </a:r>
          </a:p>
          <a:p>
            <a:pPr lvl="1">
              <a:defRPr sz="1200"/>
            </a:pPr>
            <a:r>
              <a:t>2）电源测试：精度、纹波是否正常</a:t>
            </a:r>
          </a:p>
          <a:p>
            <a:pPr lvl="1">
              <a:defRPr sz="1200"/>
            </a:pPr>
            <a:r>
              <a:t>3）通讯波形测试：频率、脉宽、幅值</a:t>
            </a:r>
          </a:p>
          <a:p>
            <a:pPr lvl="1">
              <a:defRPr sz="1200"/>
            </a:pPr>
            <a:r>
              <a:t>4）极限通讯波特率测试，验证余量</a:t>
            </a:r>
          </a:p>
          <a:p>
            <a:pPr>
              <a:defRPr sz="1400"/>
            </a:pPr>
            <a:r>
              <a:t>3.接线排查</a:t>
            </a:r>
          </a:p>
          <a:p>
            <a:pPr lvl="1">
              <a:defRPr sz="1200"/>
            </a:pPr>
            <a:r>
              <a:t>1）A、B线短接是否会损坏器件</a:t>
            </a:r>
          </a:p>
          <a:p>
            <a:pPr lvl="1">
              <a:defRPr sz="1200"/>
            </a:pPr>
            <a:r>
              <a:t>2）A对地、B对地短路是否会损坏器件</a:t>
            </a:r>
          </a:p>
          <a:p>
            <a:pPr lvl="1">
              <a:defRPr sz="1200"/>
            </a:pPr>
            <a:r>
              <a:t>3）A对电源、B对电源是否会损坏器件</a:t>
            </a:r>
          </a:p>
          <a:p>
            <a:pPr lvl="1">
              <a:defRPr sz="1200"/>
            </a:pPr>
            <a:r>
              <a:t>4）检查线缆长度是否超过RS485标准距离</a:t>
            </a:r>
          </a:p>
          <a:p>
            <a:pPr lvl="1">
              <a:defRPr sz="1200"/>
            </a:pPr>
            <a:r>
              <a:t>5）检查是否存在地电位差导致通讯异常</a:t>
            </a:r>
          </a:p>
          <a:p>
            <a:pPr>
              <a:defRPr sz="1400"/>
            </a:pPr>
            <a:r>
              <a:t>4.静电与浪涌测试</a:t>
            </a:r>
          </a:p>
          <a:p>
            <a:pPr lvl="1">
              <a:defRPr sz="1200"/>
            </a:pPr>
            <a:r>
              <a:t>1）空气放电测试、接触放电测试</a:t>
            </a:r>
          </a:p>
          <a:p>
            <a:pPr lvl="1">
              <a:defRPr sz="1200"/>
            </a:pPr>
            <a:r>
              <a:t>2）共模浪涌测试、差模浪涌测试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CAN通讯故障分析思路（新增）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1.设计检查</a:t>
            </a:r>
          </a:p>
          <a:p>
            <a:pPr lvl="1">
              <a:defRPr sz="1200"/>
            </a:pPr>
            <a:r>
              <a:t>1）检查CAN收发器选型、终端电阻（120Ω×2）</a:t>
            </a:r>
          </a:p>
          <a:p>
            <a:pPr lvl="1">
              <a:defRPr sz="1200"/>
            </a:pPr>
            <a:r>
              <a:t>2）检查总线拓扑是否合理（避免星形连接）</a:t>
            </a:r>
          </a:p>
          <a:p>
            <a:pPr lvl="1">
              <a:defRPr sz="1200"/>
            </a:pPr>
            <a:r>
              <a:t>3）检查CAN_H、CAN_L布线等长、紧密耦合</a:t>
            </a:r>
          </a:p>
          <a:p>
            <a:pPr>
              <a:defRPr sz="1400"/>
            </a:pPr>
            <a:r>
              <a:t>2.功能测试</a:t>
            </a:r>
          </a:p>
          <a:p>
            <a:pPr lvl="1">
              <a:defRPr sz="1200"/>
            </a:pPr>
            <a:r>
              <a:t>1）波特率匹配验证（标准波特率列表）</a:t>
            </a:r>
          </a:p>
          <a:p>
            <a:pPr lvl="1">
              <a:defRPr sz="1200"/>
            </a:pPr>
            <a:r>
              <a:t>2）报文收发完整性测试（丢包率统计）</a:t>
            </a:r>
          </a:p>
          <a:p>
            <a:pPr lvl="1">
              <a:defRPr sz="1200"/>
            </a:pPr>
            <a:r>
              <a:t>3）总线负载率测试（50%、70%、90%负载下表现）</a:t>
            </a:r>
          </a:p>
          <a:p>
            <a:pPr lvl="1">
              <a:defRPr sz="1200"/>
            </a:pPr>
            <a:r>
              <a:t>4）错误帧计数及错误状态分析</a:t>
            </a:r>
          </a:p>
          <a:p>
            <a:pPr>
              <a:defRPr sz="1400"/>
            </a:pPr>
            <a:r>
              <a:t>3.波形分析</a:t>
            </a:r>
          </a:p>
          <a:p>
            <a:pPr lvl="1">
              <a:defRPr sz="1200"/>
            </a:pPr>
            <a:r>
              <a:t>1）CAN_H、CAN_L差分波形验证</a:t>
            </a:r>
          </a:p>
          <a:p>
            <a:pPr lvl="1">
              <a:defRPr sz="1200"/>
            </a:pPr>
            <a:r>
              <a:t>2）显性/隐性电平幅值确认</a:t>
            </a:r>
          </a:p>
          <a:p>
            <a:pPr lvl="1">
              <a:defRPr sz="1200"/>
            </a:pPr>
            <a:r>
              <a:t>3）位时间、采样点验证</a:t>
            </a:r>
          </a:p>
          <a:p>
            <a:pPr>
              <a:defRPr sz="1400"/>
            </a:pPr>
            <a:r>
              <a:t>4.EMC与环境测试</a:t>
            </a:r>
          </a:p>
          <a:p>
            <a:pPr lvl="1">
              <a:defRPr sz="1200"/>
            </a:pPr>
            <a:r>
              <a:t>1）CAN口静电放电测试</a:t>
            </a:r>
          </a:p>
          <a:p>
            <a:pPr lvl="1">
              <a:defRPr sz="1200"/>
            </a:pPr>
            <a:r>
              <a:t>2）共模扼流圈抑制效果验证</a:t>
            </a:r>
          </a:p>
          <a:p>
            <a:pPr lvl="1">
              <a:defRPr sz="1200"/>
            </a:pPr>
            <a:r>
              <a:t>3）长线缆传输衰减测试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MCU对地短路问题分析思路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1.电源排查</a:t>
            </a:r>
          </a:p>
          <a:p>
            <a:pPr lvl="1">
              <a:defRPr sz="1200"/>
            </a:pPr>
            <a:r>
              <a:t>1）测试开关机时3.3V电源波形，是否存在过压</a:t>
            </a:r>
          </a:p>
          <a:p>
            <a:pPr lvl="1">
              <a:defRPr sz="1200"/>
            </a:pPr>
            <a:r>
              <a:t>2）测量3.3V电流波形：打开所有负载，测量最大电流</a:t>
            </a:r>
          </a:p>
          <a:p>
            <a:pPr lvl="1">
              <a:defRPr sz="1200"/>
            </a:pPr>
            <a:r>
              <a:t>3）测试电源最大带载能力和瞬态带载能力</a:t>
            </a:r>
          </a:p>
          <a:p>
            <a:pPr lvl="1">
              <a:defRPr sz="1200"/>
            </a:pPr>
            <a:r>
              <a:t>4）测量按键按下和弹起时3.3V波形</a:t>
            </a:r>
          </a:p>
          <a:p>
            <a:pPr>
              <a:defRPr sz="1400"/>
            </a:pPr>
            <a:r>
              <a:t>2.IO口状态排查</a:t>
            </a:r>
          </a:p>
          <a:p>
            <a:pPr lvl="1">
              <a:defRPr sz="1200"/>
            </a:pPr>
            <a:r>
              <a:t>1）测试所有对外IO口电平状态</a:t>
            </a:r>
          </a:p>
          <a:p>
            <a:pPr lvl="1">
              <a:defRPr sz="1200"/>
            </a:pPr>
            <a:r>
              <a:t>2）测试USB状态检测脚插拔波形（输入类IO排查）</a:t>
            </a:r>
          </a:p>
          <a:p>
            <a:pPr lvl="1">
              <a:defRPr sz="1200"/>
            </a:pPr>
            <a:r>
              <a:t>3）检查是否存在IO口被外部电压反灌情况</a:t>
            </a:r>
          </a:p>
          <a:p>
            <a:pPr>
              <a:defRPr sz="1400"/>
            </a:pPr>
            <a:r>
              <a:t>3.外围器件隔离排查</a:t>
            </a:r>
          </a:p>
          <a:p>
            <a:pPr lvl="1">
              <a:defRPr sz="1200"/>
            </a:pPr>
            <a:r>
              <a:t>1）依次断开外围器件（WIFI、FLASH、CAN收发器等）</a:t>
            </a:r>
          </a:p>
          <a:p>
            <a:pPr lvl="1">
              <a:defRPr sz="1200"/>
            </a:pPr>
            <a:r>
              <a:t>2）定位导致短路的外围电路</a:t>
            </a:r>
          </a:p>
          <a:p>
            <a:pPr>
              <a:defRPr sz="1400"/>
            </a:pPr>
            <a:r>
              <a:t>4.静电能力验证</a:t>
            </a:r>
          </a:p>
          <a:p>
            <a:pPr lvl="1">
              <a:defRPr sz="1200"/>
            </a:pPr>
            <a:r>
              <a:t>1）拨码开关静电测试</a:t>
            </a:r>
          </a:p>
          <a:p>
            <a:pPr lvl="1">
              <a:defRPr sz="1200"/>
            </a:pPr>
            <a:r>
              <a:t>2）USB等通讯口静电测试</a:t>
            </a:r>
          </a:p>
          <a:p>
            <a:pPr lvl="1">
              <a:defRPr sz="1200"/>
            </a:pPr>
            <a:r>
              <a:t>3）所有对外接口ESD防护有效性验证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短路炸板问题分析思路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1.信息收集</a:t>
            </a:r>
          </a:p>
          <a:p>
            <a:pPr lvl="1">
              <a:defRPr sz="1200"/>
            </a:pPr>
            <a:r>
              <a:t>1）确认测试场景：接线情况、电池串数、安时、短路方式</a:t>
            </a:r>
          </a:p>
          <a:p>
            <a:pPr lvl="1">
              <a:defRPr sz="1200"/>
            </a:pPr>
            <a:r>
              <a:t>2）确认短路前系统状态（关机/待机/充放电中）</a:t>
            </a:r>
          </a:p>
          <a:p>
            <a:pPr>
              <a:defRPr sz="1400"/>
            </a:pPr>
            <a:r>
              <a:t>2.设计检查</a:t>
            </a:r>
          </a:p>
          <a:p>
            <a:pPr lvl="1">
              <a:defRPr sz="1200"/>
            </a:pPr>
            <a:r>
              <a:t>1）电路设计审查：功率器件选型余量</a:t>
            </a:r>
          </a:p>
          <a:p>
            <a:pPr lvl="1">
              <a:defRPr sz="1200"/>
            </a:pPr>
            <a:r>
              <a:t>2）PCB设计审查：载流能力、爬电距离</a:t>
            </a:r>
          </a:p>
          <a:p>
            <a:pPr lvl="1">
              <a:defRPr sz="1200"/>
            </a:pPr>
            <a:r>
              <a:t>3）实际贴片检查：虚焊、连锡</a:t>
            </a:r>
          </a:p>
          <a:p>
            <a:pPr>
              <a:defRPr sz="1400"/>
            </a:pPr>
            <a:r>
              <a:t>3.波形分析（分步验证）</a:t>
            </a:r>
          </a:p>
          <a:p>
            <a:pPr lvl="1">
              <a:defRPr sz="1200"/>
            </a:pPr>
            <a:r>
              <a:t>1）先模拟短路，测试MOS-GS关断波形</a:t>
            </a:r>
          </a:p>
          <a:p>
            <a:pPr lvl="1">
              <a:defRPr sz="1200"/>
            </a:pPr>
            <a:r>
              <a:t>2）GS正常后实际短路，测试MOS-GS、MOS-DS、电流波形</a:t>
            </a:r>
          </a:p>
          <a:p>
            <a:pPr lvl="1">
              <a:defRPr sz="1200"/>
            </a:pPr>
            <a:r>
              <a:t>3）以上正常则长时间短路，观察自动恢复时有无异常</a:t>
            </a:r>
          </a:p>
          <a:p>
            <a:pPr>
              <a:defRPr sz="1400"/>
            </a:pPr>
            <a:r>
              <a:t>4.全工况验证</a:t>
            </a:r>
          </a:p>
          <a:p>
            <a:pPr lvl="1">
              <a:defRPr sz="1200"/>
            </a:pPr>
            <a:r>
              <a:t>1）逐状态测试：关机短路、待机短路、充电短路、放电短路、反接短路</a:t>
            </a:r>
          </a:p>
          <a:p>
            <a:pPr lvl="1">
              <a:defRPr sz="1200"/>
            </a:pPr>
            <a:r>
              <a:t>2）不同温度条件下的短路测试</a:t>
            </a:r>
          </a:p>
          <a:p>
            <a:pPr lvl="1">
              <a:defRPr sz="1200"/>
            </a:pPr>
            <a:r>
              <a:t>3）MOS并联电流均衡性验证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放电MOS击穿问题分析思路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1.确认损坏情况</a:t>
            </a:r>
          </a:p>
          <a:p>
            <a:pPr lvl="1">
              <a:defRPr sz="1200"/>
            </a:pPr>
            <a:r>
              <a:t>1）损坏MOS数量、位置</a:t>
            </a:r>
          </a:p>
          <a:p>
            <a:pPr lvl="1">
              <a:defRPr sz="1200"/>
            </a:pPr>
            <a:r>
              <a:t>2）是否炸铜皮</a:t>
            </a:r>
          </a:p>
          <a:p>
            <a:pPr lvl="1">
              <a:defRPr sz="1200"/>
            </a:pPr>
            <a:r>
              <a:t>3）MOS驱动器件损坏情况（10R限流电阻、GS并联电阻、稳压管）</a:t>
            </a:r>
          </a:p>
          <a:p>
            <a:pPr>
              <a:defRPr sz="1400"/>
            </a:pPr>
            <a:r>
              <a:t>2.设计确认</a:t>
            </a:r>
          </a:p>
          <a:p>
            <a:pPr lvl="1">
              <a:defRPr sz="1200"/>
            </a:pPr>
            <a:r>
              <a:t>1）电路设计、PCB、贴片情况审查</a:t>
            </a:r>
          </a:p>
          <a:p>
            <a:pPr lvl="1">
              <a:defRPr sz="1200"/>
            </a:pPr>
            <a:r>
              <a:t>2）MOS选型：Vds、Id、Rds(on)余量验证</a:t>
            </a:r>
          </a:p>
          <a:p>
            <a:pPr lvl="1">
              <a:defRPr sz="1200"/>
            </a:pPr>
            <a:r>
              <a:t>3）驱动电路设计验证（栅极电阻、死区时间）</a:t>
            </a:r>
          </a:p>
          <a:p>
            <a:pPr>
              <a:defRPr sz="1400"/>
            </a:pPr>
            <a:r>
              <a:t>3.波形分析</a:t>
            </a:r>
          </a:p>
          <a:p>
            <a:pPr lvl="1">
              <a:defRPr sz="1200"/>
            </a:pPr>
            <a:r>
              <a:t>1）抓取过流波形：从小电流到大电流的驱动波形</a:t>
            </a:r>
          </a:p>
          <a:p>
            <a:pPr lvl="1">
              <a:defRPr sz="1200"/>
            </a:pPr>
            <a:r>
              <a:t>2）抓取短路波形：GS、DS、电流波形</a:t>
            </a:r>
          </a:p>
          <a:p>
            <a:pPr lvl="1">
              <a:defRPr sz="1200"/>
            </a:pPr>
            <a:r>
              <a:t>3）验证SOA（安全工作区）是否被突破</a:t>
            </a:r>
          </a:p>
          <a:p>
            <a:pPr>
              <a:defRPr sz="1400"/>
            </a:pPr>
            <a:r>
              <a:t>4.解决方案</a:t>
            </a:r>
          </a:p>
          <a:p>
            <a:pPr lvl="1">
              <a:defRPr sz="1200"/>
            </a:pPr>
            <a:r>
              <a:t>1）优化驱动波形（减缓关断dv/dt）</a:t>
            </a:r>
          </a:p>
          <a:p>
            <a:pPr lvl="1">
              <a:defRPr sz="1200"/>
            </a:pPr>
            <a:r>
              <a:t>2）优化DS电压尖峰（增加RC snubber）</a:t>
            </a:r>
          </a:p>
          <a:p>
            <a:pPr lvl="1">
              <a:defRPr sz="1200"/>
            </a:pPr>
            <a:r>
              <a:t>3）验证热阻及散热设计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预放电阻烧毁问题分析思路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1.设计检查</a:t>
            </a:r>
          </a:p>
          <a:p>
            <a:pPr lvl="1">
              <a:defRPr sz="1200"/>
            </a:pPr>
            <a:r>
              <a:t>1）电路设计：预放电阻功率选型余量</a:t>
            </a:r>
          </a:p>
          <a:p>
            <a:pPr lvl="1">
              <a:defRPr sz="1200"/>
            </a:pPr>
            <a:r>
              <a:t>2）PCB布局：散热路径是否合理</a:t>
            </a:r>
          </a:p>
          <a:p>
            <a:pPr lvl="1">
              <a:defRPr sz="1200"/>
            </a:pPr>
            <a:r>
              <a:t>3）结构干涉：是否有热源靠近</a:t>
            </a:r>
          </a:p>
          <a:p>
            <a:pPr>
              <a:defRPr sz="1400"/>
            </a:pPr>
            <a:r>
              <a:t>2.承受能力测试</a:t>
            </a:r>
          </a:p>
          <a:p>
            <a:pPr lvl="1">
              <a:defRPr sz="1200"/>
            </a:pPr>
            <a:r>
              <a:t>1）预放电阻功率/能量承受能力验证</a:t>
            </a:r>
          </a:p>
          <a:p>
            <a:pPr lvl="1">
              <a:defRPr sz="1200"/>
            </a:pPr>
            <a:r>
              <a:t>2）预放时间常数（RC）计算与实测对比</a:t>
            </a:r>
          </a:p>
          <a:p>
            <a:pPr lvl="1">
              <a:defRPr sz="1200"/>
            </a:pPr>
            <a:r>
              <a:t>3）不同温度下预放电阻阻值漂移验证</a:t>
            </a:r>
          </a:p>
          <a:p>
            <a:pPr>
              <a:defRPr sz="1400"/>
            </a:pPr>
            <a:r>
              <a:t>3.软件逻辑验证</a:t>
            </a:r>
          </a:p>
          <a:p>
            <a:pPr lvl="1">
              <a:defRPr sz="1200"/>
            </a:pPr>
            <a:r>
              <a:t>1）充电转放电切换逻辑</a:t>
            </a:r>
          </a:p>
          <a:p>
            <a:pPr lvl="1">
              <a:defRPr sz="1200"/>
            </a:pPr>
            <a:r>
              <a:t>2）放电转充电再转放电逻辑</a:t>
            </a:r>
          </a:p>
          <a:p>
            <a:pPr lvl="1">
              <a:defRPr sz="1200"/>
            </a:pPr>
            <a:r>
              <a:t>3）小电流充电再放电逻辑</a:t>
            </a:r>
          </a:p>
          <a:p>
            <a:pPr lvl="1">
              <a:defRPr sz="1200"/>
            </a:pPr>
            <a:r>
              <a:t>4）失效保护逻辑：验证是否存在长时间开启预放的情况</a:t>
            </a:r>
          </a:p>
          <a:p>
            <a:pPr>
              <a:defRPr sz="1400"/>
            </a:pPr>
            <a:r>
              <a:t>4.负载特性分析（新增）</a:t>
            </a:r>
          </a:p>
          <a:p>
            <a:pPr lvl="1">
              <a:defRPr sz="1200"/>
            </a:pPr>
            <a:r>
              <a:t>1）测量负载端等效电容</a:t>
            </a:r>
          </a:p>
          <a:p>
            <a:pPr lvl="1">
              <a:defRPr sz="1200"/>
            </a:pPr>
            <a:r>
              <a:t>2）验证不同负载电容下的预放电流峰值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AFE烧毁问题分析思路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1.外观确认</a:t>
            </a:r>
          </a:p>
          <a:p>
            <a:pPr lvl="1">
              <a:defRPr sz="1200"/>
            </a:pPr>
            <a:r>
              <a:t>1）记录损坏器件及损坏位置</a:t>
            </a:r>
          </a:p>
          <a:p>
            <a:pPr lvl="1">
              <a:defRPr sz="1200"/>
            </a:pPr>
            <a:r>
              <a:t>2）拍照留存，便于返厂分析</a:t>
            </a:r>
          </a:p>
          <a:p>
            <a:pPr>
              <a:defRPr sz="1400"/>
            </a:pPr>
            <a:r>
              <a:t>2.设计检查</a:t>
            </a:r>
          </a:p>
          <a:p>
            <a:pPr lvl="1">
              <a:defRPr sz="1200"/>
            </a:pPr>
            <a:r>
              <a:t>1）电路设计、PCB布局、实际贴片情况</a:t>
            </a:r>
          </a:p>
          <a:p>
            <a:pPr lvl="1">
              <a:defRPr sz="1200"/>
            </a:pPr>
            <a:r>
              <a:t>2）电源去耦电容配置是否充分</a:t>
            </a:r>
          </a:p>
          <a:p>
            <a:pPr lvl="1">
              <a:defRPr sz="1200"/>
            </a:pPr>
            <a:r>
              <a:t>3）上电时序是否符合AFE要求</a:t>
            </a:r>
          </a:p>
          <a:p>
            <a:pPr>
              <a:defRPr sz="1400"/>
            </a:pPr>
            <a:r>
              <a:t>3.阻抗测量</a:t>
            </a:r>
          </a:p>
          <a:p>
            <a:pPr lvl="1">
              <a:defRPr sz="1200"/>
            </a:pPr>
            <a:r>
              <a:t>1）AFE各引脚对地阻抗</a:t>
            </a:r>
          </a:p>
          <a:p>
            <a:pPr lvl="1">
              <a:defRPr sz="1200"/>
            </a:pPr>
            <a:r>
              <a:t>2）AFE各引脚对电源阻抗</a:t>
            </a:r>
          </a:p>
          <a:p>
            <a:pPr lvl="1">
              <a:defRPr sz="1200"/>
            </a:pPr>
            <a:r>
              <a:t>3）相邻引脚间阻抗</a:t>
            </a:r>
          </a:p>
          <a:p>
            <a:pPr>
              <a:defRPr sz="1400"/>
            </a:pPr>
            <a:r>
              <a:t>4.替换验证与复现</a:t>
            </a:r>
          </a:p>
          <a:p>
            <a:pPr lvl="1">
              <a:defRPr sz="1200"/>
            </a:pPr>
            <a:r>
              <a:t>1）更换新AFE，观察是否再次烧毁</a:t>
            </a:r>
          </a:p>
          <a:p>
            <a:pPr lvl="1">
              <a:defRPr sz="1200"/>
            </a:pPr>
            <a:r>
              <a:t>2）针对损坏引脚做耐压、静电测试</a:t>
            </a:r>
          </a:p>
          <a:p>
            <a:pPr lvl="1">
              <a:defRPr sz="1200"/>
            </a:pPr>
            <a:r>
              <a:t>3）验证是否存在闩锁效应（Latch-up）风险</a:t>
            </a:r>
          </a:p>
          <a:p>
            <a:pPr>
              <a:defRPr sz="1400"/>
            </a:pPr>
            <a:r>
              <a:t>5.返厂分析</a:t>
            </a:r>
          </a:p>
          <a:p>
            <a:pPr lvl="1">
              <a:defRPr sz="1200"/>
            </a:pPr>
            <a:r>
              <a:t>1）提交厂商进行失效分析（FA）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烧AFE采集电阻问题分析思路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1.设计检查</a:t>
            </a:r>
          </a:p>
          <a:p>
            <a:pPr lvl="1">
              <a:defRPr sz="1200"/>
            </a:pPr>
            <a:r>
              <a:t>1）电路设计、PCB设计、实际贴片情况</a:t>
            </a:r>
          </a:p>
          <a:p>
            <a:pPr lvl="1">
              <a:defRPr sz="1200"/>
            </a:pPr>
            <a:r>
              <a:t>2）采集电阻功率/耐压选型验证</a:t>
            </a:r>
          </a:p>
          <a:p>
            <a:pPr>
              <a:defRPr sz="1400"/>
            </a:pPr>
            <a:r>
              <a:t>2.烧板记录</a:t>
            </a:r>
          </a:p>
          <a:p>
            <a:pPr lvl="1">
              <a:defRPr sz="1200"/>
            </a:pPr>
            <a:r>
              <a:t>1）记录烧毁电阻阻值、对应串数</a:t>
            </a:r>
          </a:p>
          <a:p>
            <a:pPr lvl="1">
              <a:defRPr sz="1200"/>
            </a:pPr>
            <a:r>
              <a:t>2）记录相邻串阻值和电压</a:t>
            </a:r>
          </a:p>
          <a:p>
            <a:pPr lvl="1">
              <a:defRPr sz="1200"/>
            </a:pPr>
            <a:r>
              <a:t>3）记录该串对电源、对地电压</a:t>
            </a:r>
          </a:p>
          <a:p>
            <a:pPr>
              <a:defRPr sz="1400"/>
            </a:pPr>
            <a:r>
              <a:t>3.替换验证</a:t>
            </a:r>
          </a:p>
          <a:p>
            <a:pPr lvl="1">
              <a:defRPr sz="1200"/>
            </a:pPr>
            <a:r>
              <a:t>1）将烧毁电阻换新，观察是否复烧</a:t>
            </a:r>
          </a:p>
          <a:p>
            <a:pPr lvl="1">
              <a:defRPr sz="1200"/>
            </a:pPr>
            <a:r>
              <a:t>2）将AFE换到新板，观察是否复烧</a:t>
            </a:r>
          </a:p>
          <a:p>
            <a:pPr>
              <a:defRPr sz="1400"/>
            </a:pPr>
            <a:r>
              <a:t>4.器件能力验证</a:t>
            </a:r>
          </a:p>
          <a:p>
            <a:pPr lvl="1">
              <a:defRPr sz="1200"/>
            </a:pPr>
            <a:r>
              <a:t>1）过电流能力测试</a:t>
            </a:r>
          </a:p>
          <a:p>
            <a:pPr lvl="1">
              <a:defRPr sz="1200"/>
            </a:pPr>
            <a:r>
              <a:t>2）耐电压能力测试</a:t>
            </a:r>
          </a:p>
          <a:p>
            <a:pPr lvl="1">
              <a:defRPr sz="1200"/>
            </a:pPr>
            <a:r>
              <a:t>3）抗静电能力测试</a:t>
            </a:r>
          </a:p>
          <a:p>
            <a:pPr>
              <a:defRPr sz="1400"/>
            </a:pPr>
            <a:r>
              <a:t>5.电压采集口验证</a:t>
            </a:r>
          </a:p>
          <a:p>
            <a:pPr lvl="1">
              <a:defRPr sz="1200"/>
            </a:pPr>
            <a:r>
              <a:t>1）电压采集口静电能力测试</a:t>
            </a:r>
          </a:p>
          <a:p>
            <a:pPr lvl="1">
              <a:defRPr sz="1200"/>
            </a:pPr>
            <a:r>
              <a:t>2）验证是否存在相邻串间高压串扰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均衡功能失效分析思路（新增）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1.均衡不开启排查</a:t>
            </a:r>
          </a:p>
          <a:p>
            <a:pPr lvl="1">
              <a:defRPr sz="1200"/>
            </a:pPr>
            <a:r>
              <a:t>1）验证均衡开启条件（压差阈值）是否正确配置</a:t>
            </a:r>
          </a:p>
          <a:p>
            <a:pPr lvl="1">
              <a:defRPr sz="1200"/>
            </a:pPr>
            <a:r>
              <a:t>2）检查均衡MOS驱动电路是否正常</a:t>
            </a:r>
          </a:p>
          <a:p>
            <a:pPr lvl="1">
              <a:defRPr sz="1200"/>
            </a:pPr>
            <a:r>
              <a:t>3）检查均衡电阻是否烧毁或虚焊</a:t>
            </a:r>
          </a:p>
          <a:p>
            <a:pPr lvl="1">
              <a:defRPr sz="1200"/>
            </a:pPr>
            <a:r>
              <a:t>4）验证软件均衡策略逻辑</a:t>
            </a:r>
          </a:p>
          <a:p>
            <a:pPr>
              <a:defRPr sz="1400"/>
            </a:pPr>
            <a:r>
              <a:t>2.均衡异常排查</a:t>
            </a:r>
          </a:p>
          <a:p>
            <a:pPr lvl="1">
              <a:defRPr sz="1200"/>
            </a:pPr>
            <a:r>
              <a:t>1）均衡电流异常：检查均衡电阻阻值是否偏移</a:t>
            </a:r>
          </a:p>
          <a:p>
            <a:pPr lvl="1">
              <a:defRPr sz="1200"/>
            </a:pPr>
            <a:r>
              <a:t>2）均衡温度过高：检查功率选型及散热</a:t>
            </a:r>
          </a:p>
          <a:p>
            <a:pPr lvl="1">
              <a:defRPr sz="1200"/>
            </a:pPr>
            <a:r>
              <a:t>3）均衡后压差反而增大：检查采样精度是否受均衡干扰</a:t>
            </a:r>
          </a:p>
          <a:p>
            <a:pPr>
              <a:defRPr sz="1400"/>
            </a:pPr>
            <a:r>
              <a:t>3.主动均衡专项（如有）</a:t>
            </a:r>
          </a:p>
          <a:p>
            <a:pPr lvl="1">
              <a:defRPr sz="1200"/>
            </a:pPr>
            <a:r>
              <a:t>1）均衡能量转移效率验证</a:t>
            </a:r>
          </a:p>
          <a:p>
            <a:pPr lvl="1">
              <a:defRPr sz="1200"/>
            </a:pPr>
            <a:r>
              <a:t>2）变压器/电感均衡拓扑验证</a:t>
            </a:r>
          </a:p>
          <a:p>
            <a:pPr lvl="1">
              <a:defRPr sz="1200"/>
            </a:pPr>
            <a:r>
              <a:t>3）均衡开关时序验证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接触器粘连失效分析思路（新增）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1.粘连检测机制验证</a:t>
            </a:r>
          </a:p>
          <a:p>
            <a:pPr lvl="1">
              <a:defRPr sz="1200"/>
            </a:pPr>
            <a:r>
              <a:t>1）验证接触器粘连检测电路设计</a:t>
            </a:r>
          </a:p>
          <a:p>
            <a:pPr lvl="1">
              <a:defRPr sz="1200"/>
            </a:pPr>
            <a:r>
              <a:t>2）验证粘连检测时序（吸合前检测/释放后检测）</a:t>
            </a:r>
          </a:p>
          <a:p>
            <a:pPr lvl="1">
              <a:defRPr sz="1200"/>
            </a:pPr>
            <a:r>
              <a:t>3）测试粘连检测灵敏度（不同接触电阻下的检测能力）</a:t>
            </a:r>
          </a:p>
          <a:p>
            <a:pPr>
              <a:defRPr sz="1400"/>
            </a:pPr>
            <a:r>
              <a:t>2.粘连原因分析</a:t>
            </a:r>
          </a:p>
          <a:p>
            <a:pPr lvl="1">
              <a:defRPr sz="1200"/>
            </a:pPr>
            <a:r>
              <a:t>1）大电流电弧烧蚀导致触点熔焊</a:t>
            </a:r>
          </a:p>
          <a:p>
            <a:pPr lvl="1">
              <a:defRPr sz="1200"/>
            </a:pPr>
            <a:r>
              <a:t>2）频繁动作导致机械疲劳</a:t>
            </a:r>
          </a:p>
          <a:p>
            <a:pPr lvl="1">
              <a:defRPr sz="1200"/>
            </a:pPr>
            <a:r>
              <a:t>3）环境因素：振动、温湿度导致接触面劣化</a:t>
            </a:r>
          </a:p>
          <a:p>
            <a:pPr>
              <a:defRPr sz="1400"/>
            </a:pPr>
            <a:r>
              <a:t>3.防护措施验证</a:t>
            </a:r>
          </a:p>
          <a:p>
            <a:pPr lvl="1">
              <a:defRPr sz="1200"/>
            </a:pPr>
            <a:r>
              <a:t>1）预充电电路是否有效限制合闸涌流</a:t>
            </a:r>
          </a:p>
          <a:p>
            <a:pPr lvl="1">
              <a:defRPr sz="1200"/>
            </a:pPr>
            <a:r>
              <a:t>2）接触器动作时序是否正确（先合后断逻辑）</a:t>
            </a:r>
          </a:p>
          <a:p>
            <a:pPr lvl="1">
              <a:defRPr sz="1200"/>
            </a:pPr>
            <a:r>
              <a:t>3）接触器寿命测试（额定动作次数验证）</a:t>
            </a:r>
          </a:p>
          <a:p>
            <a:pPr>
              <a:defRPr sz="1400"/>
            </a:pPr>
            <a:r>
              <a:t>4.故障后处理验证</a:t>
            </a:r>
          </a:p>
          <a:p>
            <a:pPr lvl="1">
              <a:defRPr sz="1200"/>
            </a:pPr>
            <a:r>
              <a:t>1）粘连后BMS是否能正确告警并禁止操作</a:t>
            </a:r>
          </a:p>
          <a:p>
            <a:pPr lvl="1">
              <a:defRPr sz="1200"/>
            </a:pPr>
            <a:r>
              <a:t>2）粘连状态下的安全保护逻辑验证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预充电异常分析思路（新增）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1.预充电不启动</a:t>
            </a:r>
          </a:p>
          <a:p>
            <a:pPr lvl="1">
              <a:defRPr sz="1200"/>
            </a:pPr>
            <a:r>
              <a:t>1）验证预充接触器驱动信号是否正常</a:t>
            </a:r>
          </a:p>
          <a:p>
            <a:pPr lvl="1">
              <a:defRPr sz="1200"/>
            </a:pPr>
            <a:r>
              <a:t>2）检查预充继电器/接触器是否损坏</a:t>
            </a:r>
          </a:p>
          <a:p>
            <a:pPr lvl="1">
              <a:defRPr sz="1200"/>
            </a:pPr>
            <a:r>
              <a:t>3）验证预充启动条件是否满足（电压、时序）</a:t>
            </a:r>
          </a:p>
          <a:p>
            <a:pPr>
              <a:defRPr sz="1400"/>
            </a:pPr>
            <a:r>
              <a:t>2.预充电超时</a:t>
            </a:r>
          </a:p>
          <a:p>
            <a:pPr lvl="1">
              <a:defRPr sz="1200"/>
            </a:pPr>
            <a:r>
              <a:t>1）测量负载端等效电容是否超设计值</a:t>
            </a:r>
          </a:p>
          <a:p>
            <a:pPr lvl="1">
              <a:defRPr sz="1200"/>
            </a:pPr>
            <a:r>
              <a:t>2）验证预充电电阻阻值是否偏大</a:t>
            </a:r>
          </a:p>
          <a:p>
            <a:pPr lvl="1">
              <a:defRPr sz="1200"/>
            </a:pPr>
            <a:r>
              <a:t>3）检查是否存在预充回路虚焊/接触不良</a:t>
            </a:r>
          </a:p>
          <a:p>
            <a:pPr>
              <a:defRPr sz="1400"/>
            </a:pPr>
            <a:r>
              <a:t>3.预充电完成后异常</a:t>
            </a:r>
          </a:p>
          <a:p>
            <a:pPr lvl="1">
              <a:defRPr sz="1200"/>
            </a:pPr>
            <a:r>
              <a:t>1）主接触器吸合瞬间电流尖峰验证</a:t>
            </a:r>
          </a:p>
          <a:p>
            <a:pPr lvl="1">
              <a:defRPr sz="1200"/>
            </a:pPr>
            <a:r>
              <a:t>2）预充→主接触器切换时序验证</a:t>
            </a:r>
          </a:p>
          <a:p>
            <a:pPr lvl="1">
              <a:defRPr sz="1200"/>
            </a:pPr>
            <a:r>
              <a:t>3）验证预充电完成判据（电压/电流阈值）是否合理</a:t>
            </a:r>
          </a:p>
          <a:p>
            <a:pPr>
              <a:defRPr sz="1400"/>
            </a:pPr>
            <a:r>
              <a:t>4.保护逻辑验证</a:t>
            </a:r>
          </a:p>
          <a:p>
            <a:pPr lvl="1">
              <a:defRPr sz="1200"/>
            </a:pPr>
            <a:r>
              <a:t>1）预充超时保护是否正确触发</a:t>
            </a:r>
          </a:p>
          <a:p>
            <a:pPr lvl="1">
              <a:defRPr sz="1200"/>
            </a:pPr>
            <a:r>
              <a:t>2）预充失败后故障处理逻辑验证</a:t>
            </a:r>
          </a:p>
          <a:p>
            <a:pPr lvl="1">
              <a:defRPr sz="1200"/>
            </a:pPr>
            <a:r>
              <a:t>3）反复预充限制逻辑验证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电池起火问题分析思路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1.现场信息收集</a:t>
            </a:r>
          </a:p>
          <a:p>
            <a:pPr lvl="1">
              <a:defRPr sz="1200"/>
            </a:pPr>
            <a:r>
              <a:t>1）了解电池烧毁情况、BMS板状况</a:t>
            </a:r>
          </a:p>
          <a:p>
            <a:pPr lvl="1">
              <a:defRPr sz="1200"/>
            </a:pPr>
            <a:r>
              <a:t>2）记录环境温度、使用时长、充放电状态</a:t>
            </a:r>
          </a:p>
          <a:p>
            <a:pPr lvl="1">
              <a:defRPr sz="1200"/>
            </a:pPr>
            <a:r>
              <a:t>3）拍照留存现场及损坏细节</a:t>
            </a:r>
          </a:p>
          <a:p>
            <a:pPr>
              <a:defRPr sz="1400"/>
            </a:pPr>
            <a:r>
              <a:t>2.BMS板状态检查</a:t>
            </a:r>
          </a:p>
          <a:p>
            <a:pPr lvl="1">
              <a:defRPr sz="1200"/>
            </a:pPr>
            <a:r>
              <a:t>1）上电看BMS是否还能工作</a:t>
            </a:r>
          </a:p>
          <a:p>
            <a:pPr lvl="1">
              <a:defRPr sz="1200"/>
            </a:pPr>
            <a:r>
              <a:t>2）尝试读取历史记录（SD卡/Flash拆到好板读取）</a:t>
            </a:r>
          </a:p>
          <a:p>
            <a:pPr lvl="1">
              <a:defRPr sz="1200"/>
            </a:pPr>
            <a:r>
              <a:t>3）检查BMS板损坏最严重区域</a:t>
            </a:r>
          </a:p>
          <a:p>
            <a:pPr>
              <a:defRPr sz="1400"/>
            </a:pPr>
            <a:r>
              <a:t>3.数据分析</a:t>
            </a:r>
          </a:p>
          <a:p>
            <a:pPr lvl="1">
              <a:defRPr sz="1200"/>
            </a:pPr>
            <a:r>
              <a:t>1）起火前是否出现过大电流充放电</a:t>
            </a:r>
          </a:p>
          <a:p>
            <a:pPr lvl="1">
              <a:defRPr sz="1200"/>
            </a:pPr>
            <a:r>
              <a:t>2）是否出现过高温告警</a:t>
            </a:r>
          </a:p>
          <a:p>
            <a:pPr lvl="1">
              <a:defRPr sz="1200"/>
            </a:pPr>
            <a:r>
              <a:t>3）电芯是否存在过充、过放、短路故障</a:t>
            </a:r>
          </a:p>
          <a:p>
            <a:pPr lvl="1">
              <a:defRPr sz="1200"/>
            </a:pPr>
            <a:r>
              <a:t>4）检查SOC/SOH估算是否存在严重偏差</a:t>
            </a:r>
          </a:p>
          <a:p>
            <a:pPr>
              <a:defRPr sz="1400"/>
            </a:pPr>
            <a:r>
              <a:t>4.根因判断（新增）</a:t>
            </a:r>
          </a:p>
          <a:p>
            <a:pPr lvl="1">
              <a:defRPr sz="1200"/>
            </a:pPr>
            <a:r>
              <a:t>1）区分BMS保护失效 vs 电芯自身缺陷 vs 外部因素</a:t>
            </a:r>
          </a:p>
          <a:p>
            <a:pPr lvl="1">
              <a:defRPr sz="1200"/>
            </a:pPr>
            <a:r>
              <a:t>2）验证BMS保护响应时间是否满足要求</a:t>
            </a:r>
          </a:p>
          <a:p>
            <a:pPr lvl="1">
              <a:defRPr sz="1200"/>
            </a:pPr>
            <a:r>
              <a:t>3）热失控链路分析：触发→传播→失控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USB故障分析思路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1.电感烧毁排查</a:t>
            </a:r>
          </a:p>
          <a:p>
            <a:pPr lvl="1">
              <a:defRPr sz="1200"/>
            </a:pPr>
            <a:r>
              <a:t>1）确认电感功率、电流是否满足要求</a:t>
            </a:r>
          </a:p>
          <a:p>
            <a:pPr lvl="1">
              <a:defRPr sz="1200"/>
            </a:pPr>
            <a:r>
              <a:t>2）示波器抓取插拔或读取时经过电感的瞬态电流</a:t>
            </a:r>
          </a:p>
          <a:p>
            <a:pPr lvl="1">
              <a:defRPr sz="1200"/>
            </a:pPr>
            <a:r>
              <a:t>3）更换更大规格电感测试</a:t>
            </a:r>
          </a:p>
          <a:p>
            <a:pPr>
              <a:defRPr sz="1400"/>
            </a:pPr>
            <a:r>
              <a:t>2.功能验证</a:t>
            </a:r>
          </a:p>
          <a:p>
            <a:pPr lvl="1">
              <a:defRPr sz="1200"/>
            </a:pPr>
            <a:r>
              <a:t>1）USB读取功能测试</a:t>
            </a:r>
          </a:p>
          <a:p>
            <a:pPr lvl="1">
              <a:defRPr sz="1200"/>
            </a:pPr>
            <a:r>
              <a:t>2）USB状态检测脚波形测试（插拔时）</a:t>
            </a:r>
          </a:p>
          <a:p>
            <a:pPr lvl="1">
              <a:defRPr sz="1200"/>
            </a:pPr>
            <a:r>
              <a:t>3）USB枚举成功率测试</a:t>
            </a:r>
          </a:p>
          <a:p>
            <a:pPr>
              <a:defRPr sz="1400"/>
            </a:pPr>
            <a:r>
              <a:t>3.静电与EMC</a:t>
            </a:r>
          </a:p>
          <a:p>
            <a:pPr lvl="1">
              <a:defRPr sz="1200"/>
            </a:pPr>
            <a:r>
              <a:t>1）USB口静电测试（空气放电、接触放电）</a:t>
            </a:r>
          </a:p>
          <a:p>
            <a:pPr lvl="1">
              <a:defRPr sz="1200"/>
            </a:pPr>
            <a:r>
              <a:t>2）ESD防护器件有效性验证</a:t>
            </a:r>
          </a:p>
          <a:p>
            <a:pPr lvl="1">
              <a:defRPr sz="1200"/>
            </a:pPr>
            <a:r>
              <a:t>3）USB差分阻抗匹配验证（90Ω差分）</a:t>
            </a:r>
          </a:p>
          <a:p>
            <a:pPr>
              <a:defRPr sz="1400"/>
            </a:pPr>
            <a:r>
              <a:t>4.插入检测异常（新增）</a:t>
            </a:r>
          </a:p>
          <a:p>
            <a:pPr lvl="1">
              <a:defRPr sz="1200"/>
            </a:pPr>
            <a:r>
              <a:t>1）插入检测电路设计审查</a:t>
            </a:r>
          </a:p>
          <a:p>
            <a:pPr lvl="1">
              <a:defRPr sz="1200"/>
            </a:pPr>
            <a:r>
              <a:t>2）检测脚电压阈值验证</a:t>
            </a:r>
          </a:p>
          <a:p>
            <a:pPr lvl="1">
              <a:defRPr sz="1200"/>
            </a:pPr>
            <a:r>
              <a:t>3）检测抖动消除逻辑验证（软件去抖）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SOC/SOH估算漂移分析思路（新增）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1.采样精度验证</a:t>
            </a:r>
          </a:p>
          <a:p>
            <a:pPr lvl="1">
              <a:defRPr sz="1200"/>
            </a:pPr>
            <a:r>
              <a:t>1）电压采样精度是否满足SOC计算要求</a:t>
            </a:r>
          </a:p>
          <a:p>
            <a:pPr lvl="1">
              <a:defRPr sz="1200"/>
            </a:pPr>
            <a:r>
              <a:t>2）电流采样精度及零漂验证</a:t>
            </a:r>
          </a:p>
          <a:p>
            <a:pPr lvl="1">
              <a:defRPr sz="1200"/>
            </a:pPr>
            <a:r>
              <a:t>3）温度采样精度对修正系数的影响</a:t>
            </a:r>
          </a:p>
          <a:p>
            <a:pPr>
              <a:defRPr sz="1400"/>
            </a:pPr>
            <a:r>
              <a:t>2.算法逻辑验证</a:t>
            </a:r>
          </a:p>
          <a:p>
            <a:pPr lvl="1">
              <a:defRPr sz="1200"/>
            </a:pPr>
            <a:r>
              <a:t>1）安时积分累计误差分析</a:t>
            </a:r>
          </a:p>
          <a:p>
            <a:pPr lvl="1">
              <a:defRPr sz="1200"/>
            </a:pPr>
            <a:r>
              <a:t>2）满充满放校准机制是否正确触发</a:t>
            </a:r>
          </a:p>
          <a:p>
            <a:pPr lvl="1">
              <a:defRPr sz="1200"/>
            </a:pPr>
            <a:r>
              <a:t>3）OCV-SOC查找表准确性验证</a:t>
            </a:r>
          </a:p>
          <a:p>
            <a:pPr>
              <a:defRPr sz="1400"/>
            </a:pPr>
            <a:r>
              <a:t>3.长期漂移分析</a:t>
            </a:r>
          </a:p>
          <a:p>
            <a:pPr lvl="1">
              <a:defRPr sz="1200"/>
            </a:pPr>
            <a:r>
              <a:t>1）不同循环次数下的SOC偏差趋势</a:t>
            </a:r>
          </a:p>
          <a:p>
            <a:pPr lvl="1">
              <a:defRPr sz="1200"/>
            </a:pPr>
            <a:r>
              <a:t>2）不同温度下的SOC偏差趋势</a:t>
            </a:r>
          </a:p>
          <a:p>
            <a:pPr lvl="1">
              <a:defRPr sz="1200"/>
            </a:pPr>
            <a:r>
              <a:t>3）静置自放电对SOC的影响</a:t>
            </a:r>
          </a:p>
          <a:p>
            <a:pPr>
              <a:defRPr sz="1400"/>
            </a:pPr>
            <a:r>
              <a:t>4.SOH衰减异常</a:t>
            </a:r>
          </a:p>
          <a:p>
            <a:pPr lvl="1">
              <a:defRPr sz="1200"/>
            </a:pPr>
            <a:r>
              <a:t>1）容量衰减速率是否异常</a:t>
            </a:r>
          </a:p>
          <a:p>
            <a:pPr lvl="1">
              <a:defRPr sz="1200"/>
            </a:pPr>
            <a:r>
              <a:t>2）内阻增长是否与SOH估算一致</a:t>
            </a:r>
          </a:p>
          <a:p>
            <a:pPr lvl="1">
              <a:defRPr sz="1200"/>
            </a:pPr>
            <a:r>
              <a:t>3）SOH告警阈值是否合理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虚焊与接触不良分析思路（新增）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1.虚焊检测</a:t>
            </a:r>
          </a:p>
          <a:p>
            <a:pPr lvl="1">
              <a:defRPr sz="1200"/>
            </a:pPr>
            <a:r>
              <a:t>1）外观检查：目检+放大镜检查焊点质量</a:t>
            </a:r>
          </a:p>
          <a:p>
            <a:pPr lvl="1">
              <a:defRPr sz="1200"/>
            </a:pPr>
            <a:r>
              <a:t>2）X-ray检查BGA/QFN等隐藏焊点</a:t>
            </a:r>
          </a:p>
          <a:p>
            <a:pPr lvl="1">
              <a:defRPr sz="1200"/>
            </a:pPr>
            <a:r>
              <a:t>3）热循环后功能验证</a:t>
            </a:r>
          </a:p>
          <a:p>
            <a:pPr>
              <a:defRPr sz="1400"/>
            </a:pPr>
            <a:r>
              <a:t>2.接触不良排查</a:t>
            </a:r>
          </a:p>
          <a:p>
            <a:pPr lvl="1">
              <a:defRPr sz="1200"/>
            </a:pPr>
            <a:r>
              <a:t>1）连接器插拔力测试</a:t>
            </a:r>
          </a:p>
          <a:p>
            <a:pPr lvl="1">
              <a:defRPr sz="1200"/>
            </a:pPr>
            <a:r>
              <a:t>2）振动测试后功能验证</a:t>
            </a:r>
          </a:p>
          <a:p>
            <a:pPr lvl="1">
              <a:defRPr sz="1200"/>
            </a:pPr>
            <a:r>
              <a:t>3）温度循环测试后功能验证</a:t>
            </a:r>
          </a:p>
          <a:p>
            <a:pPr lvl="1">
              <a:defRPr sz="1200"/>
            </a:pPr>
            <a:r>
              <a:t>4）接插件镀层氧化检查</a:t>
            </a:r>
          </a:p>
          <a:p>
            <a:pPr>
              <a:defRPr sz="1400"/>
            </a:pPr>
            <a:r>
              <a:t>3.采集线掉线分析</a:t>
            </a:r>
          </a:p>
          <a:p>
            <a:pPr lvl="1">
              <a:defRPr sz="1200"/>
            </a:pPr>
            <a:r>
              <a:t>1）采集线连接器可靠性验证</a:t>
            </a:r>
          </a:p>
          <a:p>
            <a:pPr lvl="1">
              <a:defRPr sz="1200"/>
            </a:pPr>
            <a:r>
              <a:t>2）掉线后AFE保护响应验证</a:t>
            </a:r>
          </a:p>
          <a:p>
            <a:pPr lvl="1">
              <a:defRPr sz="1200"/>
            </a:pPr>
            <a:r>
              <a:t>3）掉线恢复后系统状态恢复验证</a:t>
            </a:r>
          </a:p>
          <a:p>
            <a:pPr>
              <a:defRPr sz="1400"/>
            </a:pPr>
            <a:r>
              <a:t>4.PCB层面排查</a:t>
            </a:r>
          </a:p>
          <a:p>
            <a:pPr lvl="1">
              <a:defRPr sz="1200"/>
            </a:pPr>
            <a:r>
              <a:t>1）过孔可靠性（热应力、机械应力）</a:t>
            </a:r>
          </a:p>
          <a:p>
            <a:pPr lvl="1">
              <a:defRPr sz="1200"/>
            </a:pPr>
            <a:r>
              <a:t>2）铜箔附着力检查</a:t>
            </a:r>
          </a:p>
          <a:p>
            <a:pPr lvl="1">
              <a:defRPr sz="1200"/>
            </a:pPr>
            <a:r>
              <a:t>3）阻焊层完整性检查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失效分析方法论总结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1.通用分析流程</a:t>
            </a:r>
          </a:p>
          <a:p>
            <a:pPr lvl="1">
              <a:defRPr sz="1200"/>
            </a:pPr>
            <a:r>
              <a:t>1）信息收集：现象、环境、操作记录</a:t>
            </a:r>
          </a:p>
          <a:p>
            <a:pPr lvl="1">
              <a:defRPr sz="1200"/>
            </a:pPr>
            <a:r>
              <a:t>2）设计审查：原理图、PCB、BOM</a:t>
            </a:r>
          </a:p>
          <a:p>
            <a:pPr lvl="1">
              <a:defRPr sz="1200"/>
            </a:pPr>
            <a:r>
              <a:t>3）实物检查：外观、贴片、焊接</a:t>
            </a:r>
          </a:p>
          <a:p>
            <a:pPr lvl="1">
              <a:defRPr sz="1200"/>
            </a:pPr>
            <a:r>
              <a:t>4）测试验证：波形、精度、边界条件</a:t>
            </a:r>
          </a:p>
          <a:p>
            <a:pPr lvl="1">
              <a:defRPr sz="1200"/>
            </a:pPr>
            <a:r>
              <a:t>5）根因定位：替换法、排除法、复现法</a:t>
            </a:r>
          </a:p>
          <a:p>
            <a:pPr lvl="1">
              <a:defRPr sz="1200"/>
            </a:pPr>
            <a:r>
              <a:t>6）纠正验证：措施有效性闭环验证</a:t>
            </a:r>
          </a:p>
          <a:p>
            <a:pPr>
              <a:defRPr sz="1400"/>
            </a:pPr>
            <a:r>
              <a:t>2.关键工具</a:t>
            </a:r>
          </a:p>
          <a:p>
            <a:pPr lvl="1">
              <a:defRPr sz="1200"/>
            </a:pPr>
            <a:r>
              <a:t>1）示波器：波形分析必备</a:t>
            </a:r>
          </a:p>
          <a:p>
            <a:pPr lvl="1">
              <a:defRPr sz="1200"/>
            </a:pPr>
            <a:r>
              <a:t>2）万用表：阻抗、电压基础测量</a:t>
            </a:r>
          </a:p>
          <a:p>
            <a:pPr lvl="1">
              <a:defRPr sz="1200"/>
            </a:pPr>
            <a:r>
              <a:t>3）热成像仪：温升分布分析</a:t>
            </a:r>
          </a:p>
          <a:p>
            <a:pPr lvl="1">
              <a:defRPr sz="1200"/>
            </a:pPr>
            <a:r>
              <a:t>4）数据记录仪：长期趋势采集</a:t>
            </a:r>
          </a:p>
          <a:p>
            <a:pPr>
              <a:defRPr sz="1400"/>
            </a:pPr>
            <a:r>
              <a:t>3.注意事项</a:t>
            </a:r>
          </a:p>
          <a:p>
            <a:pPr lvl="1">
              <a:defRPr sz="1200"/>
            </a:pPr>
            <a:r>
              <a:t>1）每次分析做好记录和拍照</a:t>
            </a:r>
          </a:p>
          <a:p>
            <a:pPr lvl="1">
              <a:defRPr sz="1200"/>
            </a:pPr>
            <a:r>
              <a:t>2）更换器件前先测量原始状态</a:t>
            </a:r>
          </a:p>
          <a:p>
            <a:pPr lvl="1">
              <a:defRPr sz="1200"/>
            </a:pPr>
            <a:r>
              <a:t>3）注意安全：高压、短路风险</a:t>
            </a:r>
          </a:p>
          <a:p>
            <a:pPr lvl="1">
              <a:defRPr sz="1200"/>
            </a:pPr>
            <a:r>
              <a:t>4）分析结果及时归档，形成知识库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